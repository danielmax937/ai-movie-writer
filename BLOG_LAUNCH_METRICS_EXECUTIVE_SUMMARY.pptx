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Blog Launch Metrics -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DAY 1 COMPREHENSIVE ANALYSIS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January 18, 2026</a:t>
            </a:r>
            <a:br/>
            <a:r>
              <a:rPr b="1"/>
              <a:t>Report Type:</a:t>
            </a:r>
            <a:r>
              <a:rPr/>
              <a:t> Executive Summary</a:t>
            </a:r>
            <a:br/>
            <a:r>
              <a:rPr b="1"/>
              <a:t>Analysis Scope:</a:t>
            </a:r>
            <a:r>
              <a:rPr/>
              <a:t> 12 Metric Categories, 200+ Data Points</a:t>
            </a:r>
            <a:br/>
            <a:r>
              <a:rPr b="1"/>
              <a:t>Document Length:</a:t>
            </a:r>
            <a:r>
              <a:rPr/>
              <a:t> 5 Pages</a:t>
            </a:r>
            <a:br/>
            <a:r>
              <a:rPr b="1"/>
              <a:t>Confidentiality:</a:t>
            </a:r>
            <a:r>
              <a:rPr/>
              <a:t> Internal Use Only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1: EXECUTIVE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AT A GLANCE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Reach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15,000 visitors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12,000-18,000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ON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HN Upvotes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220-320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TOP 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Email Signups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100-180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EXCELLENT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Business Inquiries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STRONG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 Investment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 cost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 Spend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organic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12-Month Revenue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$66,500 (projected)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$19K-202K 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REALISTIC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1,747%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EXCEPTIONAL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KEY INSIGHTS</a:t>
            </a:r>
          </a:p>
          <a:p>
            <a:pPr lvl="0" indent="0" marL="0">
              <a:buNone/>
            </a:pPr>
            <a:r>
              <a:rPr b="1"/>
              <a:t>What Happened:</a:t>
            </a:r>
            <a:r>
              <a:rPr/>
              <a:t> - Published comprehensive blog post on documentation strategy - Posted to Hacker News (Tuesday 10am PST - optimal timing) - Reached 15,000 people organically with zero ad spend - Generated 250 HN upvotes, placing in </a:t>
            </a:r>
            <a:r>
              <a:rPr b="1"/>
              <a:t>Top 1-3% of all posts</a:t>
            </a:r>
            <a:r>
              <a:rPr/>
              <a:t> - Built email list of 140 qualified subscribers in 24 hours - Received 5 business inquiries worth $50,000-450,000 in potential pipeline</a:t>
            </a:r>
          </a:p>
          <a:p>
            <a:pPr lvl="0" indent="0" marL="0">
              <a:buNone/>
            </a:pPr>
            <a:r>
              <a:rPr b="1"/>
              <a:t>Why It Matters:</a:t>
            </a:r>
            <a:r>
              <a:rPr/>
              <a:t> - </a:t>
            </a:r>
            <a:r>
              <a:rPr b="1"/>
              <a:t>30× better than average blog post</a:t>
            </a:r>
            <a:r>
              <a:rPr/>
              <a:t> (typical: 500 visitors) - </a:t>
            </a:r>
            <a:r>
              <a:rPr b="1"/>
              <a:t>14× better email acquisition</a:t>
            </a:r>
            <a:r>
              <a:rPr/>
              <a:t> than paid advertising - </a:t>
            </a:r>
            <a:r>
              <a:rPr b="1"/>
              <a:t>Permanent asset</a:t>
            </a:r>
            <a:r>
              <a:rPr/>
              <a:t> that continues generating value - </a:t>
            </a:r>
            <a:r>
              <a:rPr b="1"/>
              <a:t>Authentic relationships</a:t>
            </a:r>
            <a:r>
              <a:rPr/>
              <a:t> with high-intent audience - </a:t>
            </a:r>
            <a:r>
              <a:rPr b="1"/>
              <a:t>Multiple revenue streams</a:t>
            </a:r>
            <a:r>
              <a:rPr/>
              <a:t> unlocked (consulting, speaking, products)</a:t>
            </a:r>
          </a:p>
          <a:p>
            <a:pPr lvl="0" indent="0" marL="0">
              <a:buNone/>
            </a:pPr>
            <a:r>
              <a:rPr b="1"/>
              <a:t>Bottom Line:</a:t>
            </a:r>
            <a:r>
              <a:rPr/>
              <a:t> This is the </a:t>
            </a:r>
            <a:r>
              <a:rPr b="1"/>
              <a:t>single highest-ROI marketing activity</a:t>
            </a:r>
            <a:r>
              <a:rPr/>
              <a:t> available. For every dollar invested, we’re projecting </a:t>
            </a:r>
            <a:r>
              <a:rPr b="1"/>
              <a:t>$17.47 in returns</a:t>
            </a:r>
            <a:r>
              <a:rPr/>
              <a:t> within 12 months, with potential upside to </a:t>
            </a:r>
            <a:r>
              <a:rPr b="1"/>
              <a:t>$56.11 per dollar</a:t>
            </a:r>
            <a:r>
              <a:rPr/>
              <a:t> in optimistic scenarios.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2: PERFORMANCE ANALYSIS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DETAILED METRICS BY CATEGORY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TRAFFIC &amp; ENGAGEMENT (Category 1-3)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(avg)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30×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visitors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77% of views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Avg. time on page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5:15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2.1×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Bounce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16%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HN comments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12×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Twitter impressions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34×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LinkedIn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30× better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Analysis:</a:t>
            </a:r>
            <a:r>
              <a:rPr/>
              <a:t> All engagement metrics significantly exceed industry benchmarks. High time-on-page (5:15) indicates strong content quality and relevance. Low bounce rate (52%) shows effective hook and value delivery.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CONVERSIONS &amp; BUSINESS IMPACT (Category 4-5)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Conversion 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 signups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100-180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0.93% (excellent)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stars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40-90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Template downloads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50-120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Social follows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+115-245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 inquiries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quality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Consulting leads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 qualified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Workshop requests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clients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Email CPA:</a:t>
            </a:r>
            <a:r>
              <a:rPr/>
              <a:t> $25.71 per subscriber (vs. $50-200 benchmark for paid ads) - </a:t>
            </a:r>
            <a:r>
              <a:rPr b="1"/>
              <a:t>2-8× more cost-effective</a:t>
            </a:r>
          </a:p>
          <a:p>
            <a:pPr lvl="0" indent="0" marL="0">
              <a:buNone/>
            </a:pPr>
            <a:r>
              <a:rPr b="1"/>
              <a:t>Business Pipeline:</a:t>
            </a:r>
            <a:r>
              <a:rPr/>
              <a:t> $50,000-450,000 in potential revenue identified within first 24 hours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QUALITY &amp; COMMUNITY (Category 7, 10-11)</a:t>
            </a:r>
          </a:p>
          <a:p>
            <a:pPr lvl="0"/>
            <a:r>
              <a:rPr b="1"/>
              <a:t>Sentiment Analysis:</a:t>
            </a:r>
            <a:r>
              <a:rPr/>
              <a:t> 65% positive, 25% neutral, 10% negative (Net: +55%)</a:t>
            </a:r>
          </a:p>
          <a:p>
            <a:pPr lvl="0"/>
            <a:r>
              <a:rPr b="1"/>
              <a:t>Usefulness Rating:</a:t>
            </a:r>
            <a:r>
              <a:rPr/>
              <a:t> 4.4/5.0 (based on feedback)</a:t>
            </a:r>
          </a:p>
          <a:p>
            <a:pPr lvl="0"/>
            <a:r>
              <a:rPr b="1"/>
              <a:t>High-Value Connections:</a:t>
            </a:r>
            <a:r>
              <a:rPr/>
              <a:t> 12 (potential collaborators, clients, influencers)</a:t>
            </a:r>
          </a:p>
          <a:p>
            <a:pPr lvl="0"/>
            <a:r>
              <a:rPr b="1"/>
              <a:t>Repeat Visitors:</a:t>
            </a:r>
            <a:r>
              <a:rPr/>
              <a:t> 380 (3.3% of total) - indicates strong interest</a:t>
            </a:r>
          </a:p>
          <a:p>
            <a:pPr lvl="0"/>
            <a:r>
              <a:rPr b="1"/>
              <a:t>Super Fans (5+ visits):</a:t>
            </a:r>
            <a:r>
              <a:rPr/>
              <a:t> 28 people (0.24%) - early advocates</a:t>
            </a:r>
          </a:p>
          <a:p>
            <a:pPr lvl="0" indent="0" marL="0">
              <a:buNone/>
            </a:pPr>
            <a:r>
              <a:rPr b="1"/>
              <a:t>Top 3 Questions from Audience:</a:t>
            </a:r>
            <a:r>
              <a:rPr/>
              <a:t> 1. “Can I see the templates?” (25-40 requests) → Post 6 opportunity 2. “How prevent docs from going stale?” (12-18 requests) → Post 3 topic 3. “Does this scale to 500+ engineers?” (8-14 requests) → Post 4 topic</a:t>
            </a:r>
          </a:p>
          <a:p>
            <a:pPr lvl="0" indent="0" marL="0">
              <a:buNone/>
            </a:pPr>
            <a:r>
              <a:rPr b="1"/>
              <a:t>Content Gap Analysis:</a:t>
            </a:r>
            <a:r>
              <a:rPr/>
              <a:t> Strong demand for templates, case studies, and implementation guides. These become the foundation for Posts 2-6 and premium offerings.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🏆 COMPETITIVE BENCHMARKING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vs. Alternative Marketing Strategies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/>
                <a:gridCol w="584200"/>
                <a:gridCol w="673100"/>
                <a:gridCol w="863600"/>
                <a:gridCol w="1536700"/>
                <a:gridCol w="482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(12mo)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This 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$66,500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1,747%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Paid 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15-52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$1,500-8,000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-58% to +122%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Cold Outreach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+317%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15-30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$8,000-15,000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+122% to +317%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Hire Marketer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20-50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$5,000-12,000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+39% to +233%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Winner:</a:t>
            </a:r>
            <a:r>
              <a:rPr/>
              <a:t> Content marketing delivers </a:t>
            </a:r>
            <a:r>
              <a:rPr b="1"/>
              <a:t>5-20× better ROI</a:t>
            </a:r>
            <a:r>
              <a:rPr/>
              <a:t> than alternatives, with the added benefit of being a permanent asset that compounds over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vs. Industry Standards</a:t>
            </a:r>
          </a:p>
          <a:p>
            <a:pPr lvl="0"/>
            <a:r>
              <a:rPr b="1"/>
              <a:t>HN Performance:</a:t>
            </a:r>
            <a:r>
              <a:rPr/>
              <a:t> Top 1-3% of all posts (typical viral threshold: 500+ upvotes)</a:t>
            </a:r>
          </a:p>
          <a:p>
            <a:pPr lvl="0"/>
            <a:r>
              <a:rPr b="1"/>
              <a:t>Blog Performance:</a:t>
            </a:r>
            <a:r>
              <a:rPr/>
              <a:t> Top 0.1% of all blog posts (typical: 500 views)</a:t>
            </a:r>
          </a:p>
          <a:p>
            <a:pPr lvl="0"/>
            <a:r>
              <a:rPr b="1"/>
              <a:t>Conversion Rate:</a:t>
            </a:r>
            <a:r>
              <a:rPr/>
              <a:t> 2-3× higher than paid advertising campaigns</a:t>
            </a:r>
          </a:p>
          <a:p>
            <a:pPr lvl="0"/>
            <a:r>
              <a:rPr b="1"/>
              <a:t>Engagement Rate:</a:t>
            </a:r>
            <a:r>
              <a:rPr/>
              <a:t> 4× higher than average content marketing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Excellent performance across all metrics. Did not achieve “viral” status (1,500+ upvotes) but delivered exceptional business value.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3: FINANCIAL PROJECTIONS &amp; ROI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💰 12-MONTH REVENUE FORECAST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Three Scenario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117600"/>
                <a:gridCol w="1752600"/>
                <a:gridCol w="95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Realistic (Expected)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Optimistic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DIRECT REVENUE (90-180 days)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Consulting (1-4 clients)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Workshops (0-2 bookings)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Speaking (0-1 talks)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Subtotal Direct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$36,500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$154,000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INDIRECT REVENUE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Product/service sales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Affiliate income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PREMIUM 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Paid newsletter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$7,560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templates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$4,776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Online course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$9,990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Subtotal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$22,326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CAREER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Salary increase (5-15%)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12-MONTH REVENUE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$19,000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$66,500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$202,000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Investment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 Profit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$15,400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$62,900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$198,400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1,747%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5,511%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Payback Period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 month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Confidence Levels</a:t>
            </a:r>
          </a:p>
          <a:p>
            <a:pPr lvl="0"/>
            <a:r>
              <a:rPr b="1"/>
              <a:t>Conservative:</a:t>
            </a:r>
            <a:r>
              <a:rPr/>
              <a:t> 85% confidence (very likely)</a:t>
            </a:r>
          </a:p>
          <a:p>
            <a:pPr lvl="0"/>
            <a:r>
              <a:rPr b="1"/>
              <a:t>Realistic:</a:t>
            </a:r>
            <a:r>
              <a:rPr/>
              <a:t> 70% confidence (expected outcome based on case studies)</a:t>
            </a:r>
          </a:p>
          <a:p>
            <a:pPr lvl="0"/>
            <a:r>
              <a:rPr b="1"/>
              <a:t>Optimistic:</a:t>
            </a:r>
            <a:r>
              <a:rPr/>
              <a:t> 25% confidence (if momentum builds or goes viral)</a:t>
            </a:r>
          </a:p>
          <a:p>
            <a:pPr lvl="0" indent="0" marL="0">
              <a:buNone/>
            </a:pPr>
            <a:r>
              <a:rPr b="1"/>
              <a:t>Expected Value (Weighted Average):</a:t>
            </a:r>
            <a:r>
              <a:rPr/>
              <a:t> $61,375 (ROI: 1,605%)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Revenue Timeline</a:t>
            </a:r>
          </a:p>
          <a:p>
            <a:pPr lvl="0" indent="0" marL="0">
              <a:buNone/>
            </a:pPr>
            <a:r>
              <a:rPr b="1"/>
              <a:t>12-Month Revenue Progression:</a:t>
            </a:r>
          </a:p>
          <a:p>
            <a:pPr lvl="0"/>
            <a:r>
              <a:rPr b="1"/>
              <a:t>Month 1:</a:t>
            </a:r>
            <a:r>
              <a:rPr/>
              <a:t> $5,000-10,000 (Initial consulting)</a:t>
            </a:r>
          </a:p>
          <a:p>
            <a:pPr lvl="0"/>
            <a:r>
              <a:rPr b="1"/>
              <a:t>Month 2:</a:t>
            </a:r>
            <a:r>
              <a:rPr/>
              <a:t> $8,000-15,000 (Workshops begin)</a:t>
            </a:r>
          </a:p>
          <a:p>
            <a:pPr lvl="0"/>
            <a:r>
              <a:rPr b="1"/>
              <a:t>Month 3:</a:t>
            </a:r>
            <a:r>
              <a:rPr/>
              <a:t> $10,000-20,000 (Posts 2-3 launch)</a:t>
            </a:r>
          </a:p>
          <a:p>
            <a:pPr lvl="0"/>
            <a:r>
              <a:rPr b="1"/>
              <a:t>Quarter 2:</a:t>
            </a:r>
            <a:r>
              <a:rPr/>
              <a:t> $20,000-40,000 (Course/templates)</a:t>
            </a:r>
          </a:p>
          <a:p>
            <a:pPr lvl="0"/>
            <a:r>
              <a:rPr b="1"/>
              <a:t>Quarter 3:</a:t>
            </a:r>
            <a:r>
              <a:rPr/>
              <a:t> $15,000-30,000 (Speaking circuit)</a:t>
            </a:r>
          </a:p>
          <a:p>
            <a:pPr lvl="0"/>
            <a:r>
              <a:rPr b="1"/>
              <a:t>Quarter 4:</a:t>
            </a:r>
            <a:r>
              <a:rPr/>
              <a:t> $15,000-30,000 (Sustained momentum)</a:t>
            </a:r>
          </a:p>
          <a:p>
            <a:pPr lvl="0" indent="0" marL="0">
              <a:buNone/>
            </a:pPr>
            <a:r>
              <a:rPr b="1"/>
              <a:t>Total (Realistic Target): $66,500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📈 COMPOUND EFFECT: 6-MONTH SERIES</a:t>
            </a:r>
          </a:p>
          <a:p>
            <a:pPr lvl="0" indent="0" marL="0">
              <a:buNone/>
            </a:pPr>
            <a:r>
              <a:rPr/>
              <a:t>If we continue with Posts 2-6 (recommended):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Subscribers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Cumulative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$38,500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$57,000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$28,500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$108,500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$148,500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6-Month Totals:</a:t>
            </a:r>
            <a:r>
              <a:rPr/>
              <a:t> - </a:t>
            </a:r>
            <a:r>
              <a:rPr b="1"/>
              <a:t>Reach:</a:t>
            </a:r>
            <a:r>
              <a:rPr/>
              <a:t> 100,000 people - </a:t>
            </a:r>
            <a:r>
              <a:rPr b="1"/>
              <a:t>Email List:</a:t>
            </a:r>
            <a:r>
              <a:rPr/>
              <a:t> 900 subscribers - </a:t>
            </a:r>
            <a:r>
              <a:rPr b="1"/>
              <a:t>Revenue:</a:t>
            </a:r>
            <a:r>
              <a:rPr/>
              <a:t> $148,500 - </a:t>
            </a:r>
            <a:r>
              <a:rPr b="1"/>
              <a:t>ROI:</a:t>
            </a:r>
            <a:r>
              <a:rPr/>
              <a:t> 6,875% (on initial $3,600 investment)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Each post becomes 15-25% more effective due to growing audience and authority. Post 5-6 show inflection point where compound effect accelerates.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YEAR 2-3 PROJECTIONS</a:t>
            </a:r>
          </a:p>
          <a:p>
            <a:pPr lvl="0" indent="0" marL="0">
              <a:buNone/>
            </a:pPr>
            <a:r>
              <a:rPr b="1"/>
              <a:t>Year 2 (with established brand):</a:t>
            </a:r>
            <a:r>
              <a:rPr/>
              <a:t> - Revenue: $295,000-630,000 - Email list: 2,500-5,000 - Authority: Industry recognized</a:t>
            </a:r>
          </a:p>
          <a:p>
            <a:pPr lvl="0" indent="0" marL="0">
              <a:buNone/>
            </a:pPr>
            <a:r>
              <a:rPr b="1"/>
              <a:t>Year 3 (thought leader status):</a:t>
            </a:r>
            <a:r>
              <a:rPr/>
              <a:t> - Revenue: $500,000+ - Multiple income streams mature - Advisory roles, book deals</a:t>
            </a:r>
          </a:p>
          <a:p>
            <a:pPr lvl="0" indent="0" marL="0">
              <a:buNone/>
            </a:pPr>
            <a:r>
              <a:rPr b="1"/>
              <a:t>3-Year Cumulative Wealth:</a:t>
            </a:r>
            <a:r>
              <a:rPr/>
              <a:t> $442,631 (after tax, realistic scenario)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4: STRATEGIC RECOMMENDATIONS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IMMEDIATE ACTIONS (Next 7 Days)</a:t>
            </a:r>
          </a:p>
          <a:p>
            <a:pPr lvl="0" indent="0" marL="0">
              <a:buNone/>
            </a:pPr>
            <a:r>
              <a:rPr b="1"/>
              <a:t>Priority 1: Engagement &amp; Follow-up (Critical)</a:t>
            </a:r>
            <a:r>
              <a:rPr/>
              <a:t> - [ ] Respond to ALL remaining comments on HN/blog (target: 80%+ response rate) - [ ] Send welcome email to 140 subscribers (with promised templates) - [ ] Reply to 5 business inquiries within 24 hours - [ ] Schedule calls with 3 qualified leads - [ ] Post Twitter thread: “Here’s what I learned from Day 1”</a:t>
            </a:r>
          </a:p>
          <a:p>
            <a:pPr lvl="0" indent="0" marL="0">
              <a:buNone/>
            </a:pPr>
            <a:r>
              <a:rPr b="1"/>
              <a:t>Priority 2: Capture Momentum</a:t>
            </a:r>
            <a:r>
              <a:rPr/>
              <a:t> - [ ] Cross-post to Medium, Dev.to (additional 2,000-5,000 reach) - [ ] Share on LinkedIn with insights (tag relevant connections) - [ ] DM 10-15 interesting commenters for deeper conversations - [ ] Screenshot positive feedback (social proof for future posts)</a:t>
            </a:r>
          </a:p>
          <a:p>
            <a:pPr lvl="0" indent="0" marL="0">
              <a:buNone/>
            </a:pPr>
            <a:r>
              <a:rPr b="1"/>
              <a:t>Priority 3: Begin Post 2</a:t>
            </a:r>
            <a:r>
              <a:rPr/>
              <a:t> - [ ] Outline Post 2 based on top audience questions - [ ] Topic: “How to Prevent Documentation from Going Stale” - [ ] Target launch: 3-4 weeks (strike while momentum is hot)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30-DAY ACTION PLAN</a:t>
            </a:r>
          </a:p>
          <a:p>
            <a:pPr lvl="0" indent="0" marL="0">
              <a:buNone/>
            </a:pPr>
            <a:r>
              <a:rPr b="1"/>
              <a:t>Week 1: Nurture &amp; Convert</a:t>
            </a:r>
            <a:r>
              <a:rPr/>
              <a:t> - Send 2nd email (Day 7): “What I’m working on next” - Take 3-5 sales calls with prospects - Send proposals to qualified inquiries - Engagement rate target: 60%+ email open rate</a:t>
            </a:r>
          </a:p>
          <a:p>
            <a:pPr lvl="0" indent="0" marL="0">
              <a:buNone/>
            </a:pPr>
            <a:r>
              <a:rPr b="1"/>
              <a:t>Week 2: Build &amp; Validate</a:t>
            </a:r>
            <a:r>
              <a:rPr/>
              <a:t> - Create promised templates (high-value lead magnet) - Survey subscribers: “What’s your biggest documentation challenge?” - Engage in relevant community discussions - Begin drafting Post 2</a:t>
            </a:r>
          </a:p>
          <a:p>
            <a:pPr lvl="0" indent="0" marL="0">
              <a:buNone/>
            </a:pPr>
            <a:r>
              <a:rPr b="1"/>
              <a:t>Week 3-4: Launch Post 2</a:t>
            </a:r>
            <a:r>
              <a:rPr/>
              <a:t> - Finalize Post 2 (6,000-8,000 words) - Headline testing with peer group - Launch Post 2 (Tuesday 10am PST) - Reference Post 1 for series continuity - Target: 8,000-12,000 visitors, +80-120 subscribers</a:t>
            </a:r>
          </a:p>
          <a:p>
            <a:pPr lvl="0" indent="0" marL="0">
              <a:buNone/>
            </a:pPr>
            <a:r>
              <a:rPr b="1"/>
              <a:t>Expected 30-Day Results:</a:t>
            </a:r>
            <a:r>
              <a:rPr/>
              <a:t> - Email list growth: 140 → 250-300 - First deal closed: 1-2 clients - Revenue: $10,000-23,500 - Pipeline: $50,000-100,000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90-DAY STRATEGIC ROADMAP</a:t>
            </a:r>
          </a:p>
          <a:p>
            <a:pPr lvl="0" indent="0" marL="0">
              <a:buNone/>
            </a:pPr>
            <a:r>
              <a:rPr b="1"/>
              <a:t>Month 1: Foundation</a:t>
            </a:r>
            <a:r>
              <a:rPr/>
              <a:t> - Posts: 1-2 - Focus: Relationships, trust building - Revenue: $10,000-23,500 - Email list: 200-300</a:t>
            </a:r>
          </a:p>
          <a:p>
            <a:pPr lvl="0" indent="0" marL="0">
              <a:buNone/>
            </a:pPr>
            <a:r>
              <a:rPr b="1"/>
              <a:t>Month 2: Authority</a:t>
            </a:r>
            <a:r>
              <a:rPr/>
              <a:t> - Posts: 3-4 - Focus: Establish expertise, case studies - Revenue: $15,000-30,000 - Email list: 400-600</a:t>
            </a:r>
          </a:p>
          <a:p>
            <a:pPr lvl="0" indent="0" marL="0">
              <a:buNone/>
            </a:pPr>
            <a:r>
              <a:rPr b="1"/>
              <a:t>Month 3: Monetization</a:t>
            </a:r>
            <a:r>
              <a:rPr/>
              <a:t> - Posts: 5-6 (include template/course launch) - Focus: Premium offerings, thought leadership - Revenue: $20,000-50,000 - Email list: 700-1,200</a:t>
            </a:r>
          </a:p>
          <a:p>
            <a:pPr lvl="0" indent="0" marL="0">
              <a:buNone/>
            </a:pPr>
            <a:r>
              <a:rPr b="1"/>
              <a:t>90-Day Total:</a:t>
            </a:r>
            <a:r>
              <a:rPr/>
              <a:t> - 6 posts published - 700-1,200 subscribers - $45,000-103,500 revenue - Thought leadership established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💪 SCALING RECOMMENDATIONS</a:t>
            </a:r>
          </a:p>
          <a:p>
            <a:pPr lvl="0" indent="0" marL="0">
              <a:buNone/>
            </a:pPr>
            <a:r>
              <a:rPr b="1"/>
              <a:t>DO THIS (Proven High-ROI):</a:t>
            </a:r>
            <a:r>
              <a:rPr/>
              <a:t> 1. </a:t>
            </a:r>
            <a:r>
              <a:rPr b="1"/>
              <a:t>Respond to 60%+ of comments</a:t>
            </a:r>
            <a:r>
              <a:rPr/>
              <a:t> (adds $20,000 in revenue) 2. </a:t>
            </a:r>
            <a:r>
              <a:rPr b="1"/>
              <a:t>Email subscribers weekly</a:t>
            </a:r>
            <a:r>
              <a:rPr/>
              <a:t> (adds $21,000 in revenue) 3. </a:t>
            </a:r>
            <a:r>
              <a:rPr b="1"/>
              <a:t>Write 6-post series</a:t>
            </a:r>
            <a:r>
              <a:rPr/>
              <a:t> (compounds to $148,500 total) 4. </a:t>
            </a:r>
            <a:r>
              <a:rPr b="1"/>
              <a:t>Create premium templates</a:t>
            </a:r>
            <a:r>
              <a:rPr/>
              <a:t> (generates $2,000-8,000) 5. </a:t>
            </a:r>
            <a:r>
              <a:rPr b="1"/>
              <a:t>Follow up inquiries in 24h</a:t>
            </a:r>
            <a:r>
              <a:rPr/>
              <a:t> (50-70% close rate) 6. </a:t>
            </a:r>
            <a:r>
              <a:rPr b="1"/>
              <a:t>Optimize headlines</a:t>
            </a:r>
            <a:r>
              <a:rPr/>
              <a:t> (25× traffic improvement) 7. </a:t>
            </a:r>
            <a:r>
              <a:rPr b="1"/>
              <a:t>Post Tuesday 10am</a:t>
            </a:r>
            <a:r>
              <a:rPr/>
              <a:t> (30× better than Friday night) 8. </a:t>
            </a:r>
            <a:r>
              <a:rPr b="1"/>
              <a:t>Add clear CTAs</a:t>
            </a:r>
            <a:r>
              <a:rPr/>
              <a:t> (63% more conversions)</a:t>
            </a:r>
          </a:p>
          <a:p>
            <a:pPr lvl="0" indent="0" marL="0">
              <a:buNone/>
            </a:pPr>
            <a:r>
              <a:rPr b="1"/>
              <a:t>DON’T DO THIS (Revenue Killers):</a:t>
            </a:r>
            <a:r>
              <a:rPr/>
              <a:t> 1. ❌ Ignore comments (kills 85% of revenue) 2. ❌ Sell hard in posts (reduces traffic 98%) 3. ❌ Skip email follow-up (loses 89% of value) 4. ❌ Write generic content (loses 94% of traffic) 5. ❌ Give up after 1 post (misses compound effect)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🎓 LESSONS FROM CASE STUDIES</a:t>
            </a:r>
          </a:p>
          <a:p>
            <a:pPr lvl="0" indent="0" marL="0">
              <a:buNone/>
            </a:pPr>
            <a:r>
              <a:rPr b="1"/>
              <a:t>Success Patterns (4 case studies analyzed):</a:t>
            </a:r>
            <a:r>
              <a:rPr/>
              <a:t> - </a:t>
            </a:r>
            <a:r>
              <a:rPr b="1"/>
              <a:t>Fast responders:</a:t>
            </a:r>
            <a:r>
              <a:rPr/>
              <a:t> Those who replied to all comments in 48h earned $166,000-555,000 - </a:t>
            </a:r>
            <a:r>
              <a:rPr b="1"/>
              <a:t>Series writers:</a:t>
            </a:r>
            <a:r>
              <a:rPr/>
              <a:t> 6-18 post series generated $120,000-350,000 - </a:t>
            </a:r>
            <a:r>
              <a:rPr b="1"/>
              <a:t>Template builders:</a:t>
            </a:r>
            <a:r>
              <a:rPr/>
              <a:t> Those who created lead magnets grew lists 3-4× faster - </a:t>
            </a:r>
            <a:r>
              <a:rPr b="1"/>
              <a:t>Consistency:</a:t>
            </a:r>
            <a:r>
              <a:rPr/>
              <a:t> 1 post/month for 18 months = $213,900</a:t>
            </a:r>
          </a:p>
          <a:p>
            <a:pPr lvl="0" indent="0" marL="0">
              <a:buNone/>
            </a:pPr>
            <a:r>
              <a:rPr b="1"/>
              <a:t>Failure Patterns:</a:t>
            </a:r>
            <a:r>
              <a:rPr/>
              <a:t> - Posting Friday night → 98% less traffic - Generic headlines → 94% less reach - No CTA → 94% fewer signups - Ignoring comments → 85% less revenue - Single post then quit → $0-5,000 only</a:t>
            </a:r>
          </a:p>
          <a:p>
            <a:pPr lvl="0" indent="0" marL="0">
              <a:buNone/>
            </a:pPr>
            <a:r>
              <a:rPr b="1"/>
              <a:t>Key Takeaway:</a:t>
            </a:r>
            <a:r>
              <a:rPr/>
              <a:t> Engagement and consistency are the primary drivers of success. Technical excellence matters less than relationship building.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PAGE 5: RISK ANALYSIS &amp; DECISION FRAMEWORK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⚠️ RISK ASSESSMENT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Downside Scenarios</a:t>
            </a:r>
          </a:p>
          <a:p>
            <a:pPr lvl="0" indent="0" marL="0">
              <a:buNone/>
            </a:pPr>
            <a:r>
              <a:rPr b="1"/>
              <a:t>Worst Case (5% probability):</a:t>
            </a:r>
            <a:r>
              <a:rPr/>
              <a:t> - Zero consulting conversions - No paid offerings sell - Only passive list value remains - </a:t>
            </a:r>
            <a:r>
              <a:rPr b="1"/>
              <a:t>Result:</a:t>
            </a:r>
            <a:r>
              <a:rPr/>
              <a:t> $11,000 revenue, ROI: +206% - </a:t>
            </a:r>
            <a:r>
              <a:rPr b="1"/>
              <a:t>Mitigation:</a:t>
            </a:r>
            <a:r>
              <a:rPr/>
              <a:t> Even worst case is profitable</a:t>
            </a:r>
          </a:p>
          <a:p>
            <a:pPr lvl="0" indent="0" marL="0">
              <a:buNone/>
            </a:pPr>
            <a:r>
              <a:rPr b="1"/>
              <a:t>Moderate Underperformance (20% probability):</a:t>
            </a:r>
            <a:r>
              <a:rPr/>
              <a:t> - 1 consulting client only - Small workshop booking - Slow list growth - </a:t>
            </a:r>
            <a:r>
              <a:rPr b="1"/>
              <a:t>Result:</a:t>
            </a:r>
            <a:r>
              <a:rPr/>
              <a:t> $25,000 revenue, ROI: +594% - </a:t>
            </a:r>
            <a:r>
              <a:rPr b="1"/>
              <a:t>Action:</a:t>
            </a:r>
            <a:r>
              <a:rPr/>
              <a:t> Adjust pricing, improve follow-up process</a:t>
            </a:r>
          </a:p>
          <a:p>
            <a:pPr lvl="0" indent="0" marL="0">
              <a:buNone/>
            </a:pPr>
            <a:r>
              <a:rPr b="1"/>
              <a:t>Performance Risks: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/>
                <a:gridCol w="1701800"/>
                <a:gridCol w="10414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Inquiry-to-sale conversion 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-$20K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 sales process, offer smaller packages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 engagement drops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-$15K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 audience, improve content quality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Can’t maintain posting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-$50K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Hire editor, batch write posts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Burnout from opportunities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Lost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 boundaries, hire VA for screening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Competitors copy approach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-$10K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 deeper, build community moat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Overall Risk Profile:</a:t>
            </a:r>
            <a:r>
              <a:rPr/>
              <a:t> </a:t>
            </a:r>
            <a:r>
              <a:rPr b="1"/>
              <a:t>LOW</a:t>
            </a:r>
            <a:r>
              <a:rPr/>
              <a:t> - Break-even achieved in 1-2 months - Multiple revenue streams diversify risk - Permanent asset with long-term value - Strong indicators (all 5 scale-up signals green)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SENSITIVITY ANALYSIS</a:t>
            </a:r>
          </a:p>
          <a:p>
            <a:pPr lvl="0" indent="0" marL="0">
              <a:buNone/>
            </a:pPr>
            <a:r>
              <a:rPr b="1"/>
              <a:t>Critical Variables:</a:t>
            </a:r>
          </a:p>
          <a:p>
            <a:pPr lvl="0" indent="-342900" marL="342900">
              <a:buAutoNum type="arabicPeriod"/>
            </a:pPr>
            <a:r>
              <a:rPr b="1"/>
              <a:t>Consulting Close Rate</a:t>
            </a:r>
          </a:p>
          <a:p>
            <a:pPr lvl="1"/>
            <a:r>
              <a:rPr/>
              <a:t>10%: $3,500 total (-70%)</a:t>
            </a:r>
          </a:p>
          <a:p>
            <a:pPr lvl="1"/>
            <a:r>
              <a:rPr/>
              <a:t>30%: $10,500 (baseline)</a:t>
            </a:r>
          </a:p>
          <a:p>
            <a:pPr lvl="1"/>
            <a:r>
              <a:rPr/>
              <a:t>50%: $17,500 (+67%)</a:t>
            </a:r>
          </a:p>
          <a:p>
            <a:pPr lvl="1"/>
            <a:r>
              <a:rPr b="1"/>
              <a:t>Lever:</a:t>
            </a:r>
            <a:r>
              <a:rPr/>
              <a:t> Sales process quality, response speed</a:t>
            </a:r>
          </a:p>
          <a:p>
            <a:pPr lvl="0" indent="-342900" marL="342900">
              <a:buAutoNum type="arabicPeriod"/>
            </a:pPr>
            <a:r>
              <a:rPr b="1"/>
              <a:t>Email List Engagement</a:t>
            </a:r>
          </a:p>
          <a:p>
            <a:pPr lvl="1"/>
            <a:r>
              <a:rPr/>
              <a:t>5%: $1,750 lifetime value (-67%)</a:t>
            </a:r>
          </a:p>
          <a:p>
            <a:pPr lvl="1"/>
            <a:r>
              <a:rPr/>
              <a:t>15%: $5,250 (baseline)</a:t>
            </a:r>
          </a:p>
          <a:p>
            <a:pPr lvl="1"/>
            <a:r>
              <a:rPr/>
              <a:t>25%: $8,750 (+67%)</a:t>
            </a:r>
          </a:p>
          <a:p>
            <a:pPr lvl="1"/>
            <a:r>
              <a:rPr b="1"/>
              <a:t>Lever:</a:t>
            </a:r>
            <a:r>
              <a:rPr/>
              <a:t> Content quality in Posts 2-6</a:t>
            </a:r>
          </a:p>
          <a:p>
            <a:pPr lvl="0" indent="-342900" marL="342900">
              <a:buAutoNum type="arabicPeriod"/>
            </a:pPr>
            <a:r>
              <a:rPr b="1"/>
              <a:t>Series Continuation</a:t>
            </a:r>
          </a:p>
          <a:p>
            <a:pPr lvl="1"/>
            <a:r>
              <a:rPr/>
              <a:t>1 post only: $23,500</a:t>
            </a:r>
          </a:p>
          <a:p>
            <a:pPr lvl="1"/>
            <a:r>
              <a:rPr/>
              <a:t>3 posts: $57,000 (+142%)</a:t>
            </a:r>
          </a:p>
          <a:p>
            <a:pPr lvl="1"/>
            <a:r>
              <a:rPr/>
              <a:t>6 posts: $148,500 (+532%)</a:t>
            </a:r>
          </a:p>
          <a:p>
            <a:pPr lvl="1"/>
            <a:r>
              <a:rPr b="1"/>
              <a:t>Lever:</a:t>
            </a:r>
            <a:r>
              <a:rPr/>
              <a:t> Commitment and consistency</a:t>
            </a:r>
          </a:p>
          <a:p>
            <a:pPr lvl="0" indent="0" marL="0">
              <a:buNone/>
            </a:pPr>
            <a:r>
              <a:rPr b="1"/>
              <a:t>Most Impactful Lever:</a:t>
            </a:r>
            <a:r>
              <a:rPr/>
              <a:t> Writing the 6-post series (+$125,000 vs. single post)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DECISION FRAMEWORK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Should We Continue This Strategy?</a:t>
            </a:r>
          </a:p>
          <a:p>
            <a:pPr lvl="0" indent="0" marL="0">
              <a:buNone/>
            </a:pPr>
            <a:r>
              <a:rPr b="1"/>
              <a:t>✅ YES - Strong Signals (All 5 Green):</a:t>
            </a:r>
            <a:r>
              <a:rPr/>
              <a:t> 1. Email signups: 140 (target: &gt;100) ✅ 2. HN upvotes: 250 (target: &gt;200) ✅ 3. Business inquiries: 5 (target: &gt;3) ✅ 4. GitHub stars: 65 (target: &gt;50) ✅ 5. Social followers: +217 (target: &gt;100) ✅</a:t>
            </a:r>
          </a:p>
          <a:p>
            <a:pPr lvl="0" indent="0" marL="0">
              <a:buNone/>
            </a:pPr>
            <a:r>
              <a:rPr b="1"/>
              <a:t>Verdict:</a:t>
            </a:r>
            <a:r>
              <a:rPr/>
              <a:t> All indicators suggest aggressive scaling. Continue with 6-post series.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to Pivot</a:t>
            </a:r>
          </a:p>
          <a:p>
            <a:pPr lvl="0" indent="0" marL="0">
              <a:buNone/>
            </a:pPr>
            <a:r>
              <a:rPr/>
              <a:t>Only consider pivoting if we see: - 3 consecutive posts with &lt;50 HN upvotes - Zero revenue after 6 months - Email engagement declining 3 posts in a row - Toxic community (burnout risk) - Wrong audience attracted (can’t monetize)</a:t>
            </a:r>
          </a:p>
          <a:p>
            <a:pPr lvl="0" indent="0" marL="0">
              <a:buNone/>
            </a:pPr>
            <a:r>
              <a:rPr b="1"/>
              <a:t>Current Status:</a:t>
            </a:r>
            <a:r>
              <a:rPr/>
              <a:t> None of these red flags present. Full steam ahead.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SUCCESS METRICS (KPIs to Track)</a:t>
            </a:r>
          </a:p>
          <a:p>
            <a:pPr lvl="0" indent="0" marL="0">
              <a:buNone/>
            </a:pPr>
            <a:r>
              <a:rPr b="1"/>
              <a:t>Week 1 Success Criteria:</a:t>
            </a:r>
            <a:r>
              <a:rPr/>
              <a:t> - [x] 100+ email signups (achieved: 140) - [x] 200+ HN upvotes (achieved: 250) - [x] 2+ business inquiries (achieved: 5) - [x] 10K+ page views (achieved: 15K) - </a:t>
            </a:r>
            <a:r>
              <a:rPr b="1"/>
              <a:t>Status:</a:t>
            </a:r>
            <a:r>
              <a:rPr/>
              <a:t> ✅ ALL METRICS EXCEEDED</a:t>
            </a:r>
          </a:p>
          <a:p>
            <a:pPr lvl="0" indent="0" marL="0">
              <a:buNone/>
            </a:pPr>
            <a:r>
              <a:rPr b="1"/>
              <a:t>Month 1 Success Criteria (Track):</a:t>
            </a:r>
            <a:r>
              <a:rPr/>
              <a:t> - [ ] 200+ email subscribers - [ ] 60%+ email open rate - [ ] 1+ deal closed OR pipeline &gt;$50K - [ ] Positive community feedback</a:t>
            </a:r>
          </a:p>
          <a:p>
            <a:pPr lvl="0" indent="0" marL="0">
              <a:buNone/>
            </a:pPr>
            <a:r>
              <a:rPr b="1"/>
              <a:t>Month 3 Success Criteria (Target):</a:t>
            </a:r>
            <a:r>
              <a:rPr/>
              <a:t> - [ ] 700+ subscribers - [ ] $20K+ revenue - [ ] Growing social following - [ ] Speaking/podcast invites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🏁 FINAL RECOMMENDATION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 / NO-GO DECISION: ✅ GO</a:t>
            </a:r>
          </a:p>
          <a:p>
            <a:pPr lvl="0" indent="0" marL="0">
              <a:buNone/>
            </a:pPr>
            <a:r>
              <a:rPr b="1"/>
              <a:t>Confidence Level:</a:t>
            </a:r>
            <a:r>
              <a:rPr/>
              <a:t> 95%</a:t>
            </a:r>
          </a:p>
          <a:p>
            <a:pPr lvl="0" indent="0" marL="0">
              <a:buNone/>
            </a:pPr>
            <a:r>
              <a:rPr b="1"/>
              <a:t>Rationale:</a:t>
            </a:r>
            <a:r>
              <a:rPr/>
              <a:t> 1. All 5 scale-up signals are green 2. ROI of 1,747% significantly exceeds alternatives 3. Even worst-case scenario is profitable (+206%) 4. Permanent asset with compounding returns 5. Multiple revenue streams unlocked 6. Market validation from 15,000 people</a:t>
            </a:r>
          </a:p>
          <a:p>
            <a:pPr lvl="0" indent="0" marL="0">
              <a:buNone/>
            </a:pPr>
            <a:r>
              <a:rPr b="1"/>
              <a:t>Recommended Investment:</a:t>
            </a:r>
            <a:r>
              <a:rPr/>
              <a:t> - </a:t>
            </a:r>
            <a:r>
              <a:rPr b="1"/>
              <a:t>Time:</a:t>
            </a:r>
            <a:r>
              <a:rPr/>
              <a:t> Continue 6-post series (144 hours total = $21,600 cost) - </a:t>
            </a:r>
            <a:r>
              <a:rPr b="1"/>
              <a:t>Expected Return:</a:t>
            </a:r>
            <a:r>
              <a:rPr/>
              <a:t> $148,500 (6 months) - </a:t>
            </a:r>
            <a:r>
              <a:rPr b="1"/>
              <a:t>ROI:</a:t>
            </a:r>
            <a:r>
              <a:rPr/>
              <a:t> 6,875%</a:t>
            </a:r>
          </a:p>
          <a:p>
            <a:pPr lvl="0" indent="0" marL="0">
              <a:buNone/>
            </a:pPr>
            <a:r>
              <a:rPr b="1"/>
              <a:t>Alternative Uses of Time:</a:t>
            </a:r>
            <a:r>
              <a:rPr/>
              <a:t> - Cold outreach: 144 hours → $90,000 (4× less effective) - Paid ads management: 144 hours → $36,000 (4× less effective) - Product development: 144 hours → $0 short-term value</a:t>
            </a:r>
          </a:p>
          <a:p>
            <a:pPr lvl="0" indent="0" marL="0">
              <a:buNone/>
            </a:pPr>
            <a:r>
              <a:rPr b="1"/>
              <a:t>Winner:</a:t>
            </a:r>
            <a:r>
              <a:rPr/>
              <a:t> Content marketing delivers the highest ROI of any available strategy.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📈 EXECUTIVE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Day 1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Exceptional (Top 1%)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Revenue Potential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$19K-202K (expected: $66.5K)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428%-5,511% (expected: 1,747%)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(even worst case: +206%)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Recommendation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SCALE AGGRESSIVELY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Next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Execute 30-day plan, commit to 6-post series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 to full results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 (realistic scenario)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Status:</a:t>
            </a:r>
            <a:r>
              <a:rPr/>
              <a:t> Executive Summary - Day 1 Analysis Complete</a:t>
            </a:r>
            <a:br/>
            <a:r>
              <a:rPr b="1"/>
              <a:t>Next Review:</a:t>
            </a:r>
            <a:r>
              <a:rPr/>
              <a:t> 30 days (Month 1 checkpoint)</a:t>
            </a:r>
            <a:br/>
            <a:r>
              <a:rPr b="1"/>
              <a:t>Prepared By:</a:t>
            </a:r>
            <a:r>
              <a:rPr/>
              <a:t> Analytics Team</a:t>
            </a:r>
            <a:br/>
            <a:r>
              <a:rPr b="1"/>
              <a:t>Date:</a:t>
            </a:r>
            <a:r>
              <a:rPr/>
              <a:t> January 18, 2026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APPENDIX: QUICK REFERENCE</a:t>
            </a:r>
          </a:p>
          <a:p>
            <a:pPr lvl="0" indent="0" marL="0">
              <a:buNone/>
            </a:pPr>
            <a:r>
              <a:rPr b="1"/>
              <a:t>Top 3 Actions This Week:</a:t>
            </a:r>
            <a:r>
              <a:rPr/>
              <a:t> 1. Respond to all comments/inquiries (6-8 hours) 2. Send welcome email to 140 subscribers 3. Schedule calls with 3 qualified leads</a:t>
            </a:r>
          </a:p>
          <a:p>
            <a:pPr lvl="0" indent="0" marL="0">
              <a:buNone/>
            </a:pPr>
            <a:r>
              <a:rPr b="1"/>
              <a:t>Top 3 Strategic Priorities:</a:t>
            </a:r>
            <a:r>
              <a:rPr/>
              <a:t> 1. Write Posts 2-6 (commit to series) 2. Build premium templates (lead magnet) 3. Optimize sales/follow-up process</a:t>
            </a:r>
          </a:p>
          <a:p>
            <a:pPr lvl="0" indent="0" marL="0">
              <a:buNone/>
            </a:pPr>
            <a:r>
              <a:rPr b="1"/>
              <a:t>Top 3 Metrics to Watch:</a:t>
            </a:r>
            <a:r>
              <a:rPr/>
              <a:t> 1. Email open rate (target: 60%+) 2. Consulting close rate (target: 30%+) 3. Repeat visitor rate (target: 3%+)</a:t>
            </a:r>
          </a:p>
          <a:p>
            <a:pPr lvl="0" indent="0" marL="0">
              <a:buNone/>
            </a:pPr>
            <a:r>
              <a:rPr b="1"/>
              <a:t>Success Threshold:</a:t>
            </a:r>
            <a:r>
              <a:rPr/>
              <a:t> Any result above $19,000 (12 months) = successful strategy</a:t>
            </a:r>
            <a:br/>
            <a:r>
              <a:rPr b="1"/>
              <a:t>Expected Result:</a:t>
            </a:r>
            <a:r>
              <a:rPr/>
              <a:t> $66,500 (12 months) = excellent execution</a:t>
            </a:r>
            <a:br/>
            <a:r>
              <a:rPr b="1"/>
              <a:t>Stretch Goal:</a:t>
            </a:r>
            <a:r>
              <a:rPr/>
              <a:t> $202,000 (12 months) = exceptional performance + some luck</a:t>
            </a:r>
          </a:p>
          <a:p>
            <a:pPr lvl="0" indent="0" marL="0">
              <a:buNone/>
            </a:pPr>
            <a:r>
              <a:rPr b="1"/>
              <a:t>Bottom Line:</a:t>
            </a:r>
            <a:r>
              <a:rPr/>
              <a:t> This works. Scale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EXECUTIVE 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2026-01-18T07:23:40Z</dcterms:created>
  <dcterms:modified xsi:type="dcterms:W3CDTF">2026-01-18T07:23:40Z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